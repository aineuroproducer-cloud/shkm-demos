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rebuchet MS"/>
              </a:rPr>
              <a:t>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731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AC4FF"/>
                </a:solidFill>
                <a:latin typeface="Trebuchet MS"/>
              </a:rPr>
              <a:t>ШКОЛА КАРЬЕРНОГО МЕНЕДЖМЕНТА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Trebuchet MS"/>
              </a:rPr>
              <a:t>AI-ассистенты и агенты</a:t>
            </a:r>
          </a:p>
          <a:p>
            <a:pPr algn="l"/>
            <a:r>
              <a:rPr sz="4000" b="1">
                <a:solidFill>
                  <a:srgbClr val="22B099"/>
                </a:solidFill>
                <a:latin typeface="Trebuchet MS"/>
              </a:rPr>
              <a:t>для профориентатора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B8BCDC"/>
                </a:solidFill>
                <a:latin typeface="Calibri"/>
              </a:rPr>
              <a:t>Демо: ассистент читает профориентационный отчёт → строит гипотезы →</a:t>
            </a:r>
          </a:p>
          <a:p>
            <a:pPr algn="l"/>
            <a:r>
              <a:rPr sz="1700" b="0">
                <a:solidFill>
                  <a:srgbClr val="B8BCDC"/>
                </a:solidFill>
                <a:latin typeface="Calibri"/>
              </a:rPr>
              <a:t>готовит итоговый отчёт. Три уровня — от Cowork до настоящего агента.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852160"/>
            <a:ext cx="2743200" cy="54864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О ЧЁМ УРОК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138"/>
                </a:solidFill>
                <a:latin typeface="Trebuchet MS"/>
              </a:rPr>
              <a:t>Берём реальный процесс профориентатора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138"/>
                </a:solidFill>
                <a:latin typeface="Trebuchet MS"/>
              </a:rPr>
              <a:t>Реальный кейс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9572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Тест Digital Human → отчёт → анализ → гипотезы → консультация → итоговый отчёт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22B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6324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138"/>
                </a:solidFill>
                <a:latin typeface="Trebuchet MS"/>
              </a:rPr>
              <a:t>Ассистент vs агент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44728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Ассистент отвечает, агент действует с вашими файлами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1480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138"/>
                </a:solidFill>
                <a:latin typeface="Trebuchet MS"/>
              </a:rPr>
              <a:t>Три уровня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9884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Cowork → своя веб-кнопка → настоящий агент (Codex / Claude Code)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22B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6636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138"/>
                </a:solidFill>
                <a:latin typeface="Trebuchet MS"/>
              </a:rPr>
              <a:t>Заберёте с собой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550408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Готовый инструмент, промпты и инструкцию как повторить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B8BCDC"/>
                </a:solidFill>
                <a:latin typeface="Trebuchet MS"/>
              </a:rPr>
              <a:t>Главный вопрос —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Trebuchet MS"/>
              </a:rPr>
              <a:t>что в процессе рутина,</a:t>
            </a:r>
          </a:p>
          <a:p>
            <a:pPr algn="l"/>
            <a:r>
              <a:rPr sz="3400" b="1">
                <a:solidFill>
                  <a:srgbClr val="22B099"/>
                </a:solidFill>
                <a:latin typeface="Trebuchet MS"/>
              </a:rPr>
              <a:t>а что — экспертиза</a:t>
            </a:r>
          </a:p>
          <a:p>
            <a:pPr algn="l"/>
            <a:r>
              <a:rPr sz="3400" b="1">
                <a:solidFill>
                  <a:srgbClr val="22B099"/>
                </a:solidFill>
                <a:latin typeface="Trebuchet MS"/>
              </a:rPr>
              <a:t>профориентатора.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AA0C8"/>
                </a:solidFill>
                <a:latin typeface="Calibri"/>
              </a:rPr>
              <a:t>Гипотезы и рекомендации остаются за вами. AI снимает рутину и черновую аналитику.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КАК ДУМАТЬ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138"/>
                </a:solidFill>
                <a:latin typeface="Trebuchet MS"/>
              </a:rPr>
              <a:t>Три роли в процессе профориентации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611880" cy="640080"/>
          </a:xfrm>
          <a:prstGeom prst="roundRect">
            <a:avLst>
              <a:gd name="adj" fmla="val 8000"/>
            </a:avLst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5798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Профориентатор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Живая встреча, контакт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9359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Проверка гипотез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068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Чуткость к клиенту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2005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Финальные рекомендации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01168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6552" y="2011680"/>
            <a:ext cx="3611880" cy="640080"/>
          </a:xfrm>
          <a:prstGeom prst="roundRect">
            <a:avLst>
              <a:gd name="adj" fmla="val 8000"/>
            </a:avLst>
          </a:prstGeom>
          <a:solidFill>
            <a:srgbClr val="22B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15798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Анализ отчёта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359359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Гипотезы к встрече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43068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Вопросы по чек-листу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502005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Черновик итогового отчёта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93024" y="2011680"/>
            <a:ext cx="3611880" cy="402336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93024" y="2011680"/>
            <a:ext cx="3611880" cy="640080"/>
          </a:xfrm>
          <a:prstGeom prst="roundRect">
            <a:avLst>
              <a:gd name="adj" fmla="val 8000"/>
            </a:avLst>
          </a:prstGeom>
          <a:solidFill>
            <a:srgbClr val="F2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215798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Trebuchet MS"/>
              </a:rPr>
              <a:t>Автоматизация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Папка клиента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359359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Файлы по местам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430682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Напоминания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502005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Запуск по расписанию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6CFF"/>
                </a:solidFill>
                <a:latin typeface="Calibri"/>
              </a:rPr>
              <a:t>Правило: </a:t>
            </a:r>
            <a:r>
              <a:rPr sz="1400" b="0">
                <a:solidFill>
                  <a:srgbClr val="1E2138"/>
                </a:solidFill>
                <a:latin typeface="Calibri"/>
              </a:rPr>
              <a:t>автоматизируй рутину, оставь себе экспертизу.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ГРАНИЦЫ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138"/>
                </a:solidFill>
                <a:latin typeface="Trebuchet MS"/>
              </a:rPr>
              <a:t>Что остаётся за профориентатором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395727"/>
            <a:ext cx="457200" cy="45720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2860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2138"/>
                </a:solidFill>
                <a:latin typeface="Trebuchet MS"/>
              </a:rPr>
              <a:t>Живая консультация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67004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Контакт, доверие, тонкая настройка — только человек.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79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675887"/>
            <a:ext cx="457200" cy="45720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5661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2138"/>
                </a:solidFill>
                <a:latin typeface="Trebuchet MS"/>
              </a:rPr>
              <a:t>Проверка гипотез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950207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AI предлагает версии — подтверждаете и корректируете вы.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Trebuchet MS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463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E2138"/>
                </a:solidFill>
                <a:latin typeface="Trebuchet MS"/>
              </a:rPr>
              <a:t>Финальные рекомендации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3036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Итоговый маршрут и решение — ваша ответственность.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РАЗВИЛКА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138"/>
                </a:solidFill>
                <a:latin typeface="Trebuchet MS"/>
              </a:rPr>
              <a:t>Два способа автоматизировать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EE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91440" cy="41148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7C6CFF"/>
                </a:solidFill>
                <a:latin typeface="Trebuchet MS"/>
              </a:rPr>
              <a:t>Вайбкодинг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Описал словами — AI собрал инструмент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+  </a:t>
            </a:r>
            <a:r>
              <a:rPr sz="1350" b="0">
                <a:solidFill>
                  <a:srgbClr val="1E2138"/>
                </a:solidFill>
                <a:latin typeface="Calibri"/>
              </a:rPr>
              <a:t>Cowork, Codex, веб-кнопка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+  </a:t>
            </a:r>
            <a:r>
              <a:rPr sz="1350" b="0">
                <a:solidFill>
                  <a:srgbClr val="1E2138"/>
                </a:solidFill>
                <a:latin typeface="Calibri"/>
              </a:rPr>
              <a:t>Работает с вашими файлами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+  </a:t>
            </a:r>
            <a:r>
              <a:rPr sz="1350" b="0">
                <a:solidFill>
                  <a:srgbClr val="1E2138"/>
                </a:solidFill>
                <a:latin typeface="Calibri"/>
              </a:rPr>
              <a:t>Гибкая логика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Calibri"/>
              </a:rPr>
              <a:t>+  </a:t>
            </a:r>
            <a:r>
              <a:rPr sz="1350" b="0">
                <a:solidFill>
                  <a:srgbClr val="1E2138"/>
                </a:solidFill>
                <a:latin typeface="Calibri"/>
              </a:rPr>
              <a:t>Наш выбор для анализа отчётов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49240" cy="411480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E2138"/>
                </a:solidFill>
                <a:latin typeface="Trebuchet MS"/>
              </a:rPr>
              <a:t>Make.com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194"/>
                </a:solidFill>
                <a:latin typeface="Calibri"/>
              </a:rPr>
              <a:t>Соединяешь сервисы, реагирует на событие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83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Триггер: форма, файл, письмо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Ещё один сервис +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Запуск без вас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29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Calibri"/>
              </a:rPr>
              <a:t>•  </a:t>
            </a:r>
            <a:r>
              <a:rPr sz="1350" b="0">
                <a:solidFill>
                  <a:srgbClr val="1E2138"/>
                </a:solidFill>
                <a:latin typeface="Calibri"/>
              </a:rPr>
              <a:t>Оставим на урок про Make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6B7194"/>
                </a:solidFill>
                <a:latin typeface="Calibri"/>
              </a:rPr>
              <a:t>Для «проанализируй отчёт и собери документы» — вайбкодинг короче и дешевле.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rebuchet MS"/>
              </a:rPr>
              <a:t>Три уровня вайбкодинга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1E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2331720"/>
            <a:ext cx="685800" cy="68580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Cowork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BCDC"/>
                </a:solidFill>
                <a:latin typeface="Calibri"/>
              </a:rPr>
              <a:t>Ассистент читает отчёты и пишет анализ по вашему описанию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2A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7C6CFF"/>
                </a:solidFill>
                <a:latin typeface="Calibri"/>
              </a:rPr>
              <a:t>Сегодня · без кода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1E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40" y="2331720"/>
            <a:ext cx="685800" cy="685800"/>
          </a:xfrm>
          <a:prstGeom prst="ellipse">
            <a:avLst/>
          </a:prstGeom>
          <a:solidFill>
            <a:srgbClr val="22B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246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Своя веб-кнопка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BCDC"/>
                </a:solidFill>
                <a:latin typeface="Calibri"/>
              </a:rPr>
              <a:t>AI пишет инструмент по одной фразе. Без терминала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5349240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2A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440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2B099"/>
                </a:solidFill>
                <a:latin typeface="Calibri"/>
              </a:rPr>
              <a:t>Без программиста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611880" cy="3931920"/>
          </a:xfrm>
          <a:prstGeom prst="roundRect">
            <a:avLst>
              <a:gd name="adj" fmla="val 8000"/>
            </a:avLst>
          </a:prstGeom>
          <a:solidFill>
            <a:srgbClr val="1E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66760" y="2331720"/>
            <a:ext cx="685800" cy="685800"/>
          </a:xfrm>
          <a:prstGeom prst="ellipse">
            <a:avLst/>
          </a:prstGeom>
          <a:solidFill>
            <a:srgbClr val="F2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Настоящий агент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9476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B8BCDC"/>
                </a:solidFill>
                <a:latin typeface="Calibri"/>
              </a:rPr>
              <a:t>Обходит все папки. Codex / Claude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5349240"/>
            <a:ext cx="3063240" cy="457200"/>
          </a:xfrm>
          <a:prstGeom prst="roundRect">
            <a:avLst>
              <a:gd name="adj" fmla="val 8000"/>
            </a:avLst>
          </a:prstGeom>
          <a:solidFill>
            <a:srgbClr val="2A2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54406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2A94B"/>
                </a:solidFill>
                <a:latin typeface="Calibri"/>
              </a:rPr>
              <a:t>Дорасти или отдать спецу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УРОВЕНЬ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138"/>
                </a:solidFill>
                <a:latin typeface="Trebuchet MS"/>
              </a:rPr>
              <a:t>Claude Cowork — ассистент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C6CFF"/>
                </a:solidFill>
                <a:latin typeface="Trebuchet MS"/>
              </a:rPr>
              <a:t>Что делаешь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303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1.  Подключаешь папку с отчётами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2.  Промпт: «проанализируй отчёт»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3.  Cowork кладёт анализ в папку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4.  Проект с инструкцией = память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5.  Расписание: сам обходит вечером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91440" cy="4114800"/>
          </a:xfrm>
          <a:prstGeom prst="rect">
            <a:avLst/>
          </a:prstGeom>
          <a:solidFill>
            <a:srgbClr val="7C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7C6CFF"/>
                </a:solidFill>
                <a:latin typeface="Trebuchet MS"/>
              </a:rPr>
              <a:t>Что говоришь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138"/>
                </a:solidFill>
                <a:latin typeface="Calibri"/>
              </a:rPr>
              <a:t>«Cowork прочитал отчёт, собрал гипотезы и вопросы к встрече, положил в папку. Это 20–30 минут вашей работы. И теперь Cowork ещё и в браузере/на телефоне.»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194"/>
                </a:solidFill>
                <a:latin typeface="Calibri"/>
              </a:rPr>
              <a:t>Демо: Ясмина и Максим · без кода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22B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2B099"/>
                </a:solidFill>
                <a:latin typeface="Trebuchet MS"/>
              </a:rPr>
              <a:t>УРОВЕНЬ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138"/>
                </a:solidFill>
                <a:latin typeface="Trebuchet MS"/>
              </a:rPr>
              <a:t>Своя веб-кнопка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B099"/>
                </a:solidFill>
                <a:latin typeface="Trebuchet MS"/>
              </a:rPr>
              <a:t>Что делаешь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303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1.  Открываешь otchet-workbench.html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2.  Кнопка «Ясмина» → «Проанализировать»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3.  Анализ + итоговый отчёт, скачать .md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4.  ⚙️ свой ключ → любой отчёт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5.  Выложить на GitHub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91440" cy="4114800"/>
          </a:xfrm>
          <a:prstGeom prst="rect">
            <a:avLst/>
          </a:prstGeom>
          <a:solidFill>
            <a:srgbClr val="22B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B099"/>
                </a:solidFill>
                <a:latin typeface="Trebuchet MS"/>
              </a:rPr>
              <a:t>Что говоришь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138"/>
                </a:solidFill>
                <a:latin typeface="Calibri"/>
              </a:rPr>
              <a:t>«Я сказала AI: сделай страницу, куда вставляю отчёт и получаю анализ. Вот она. Программиста не было. Можно отдать коллегам.»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194"/>
                </a:solidFill>
                <a:latin typeface="Calibri"/>
              </a:rPr>
              <a:t>Вайбкодинг — это понятно описывать задачу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2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2A94B"/>
                </a:solidFill>
                <a:latin typeface="Trebuchet MS"/>
              </a:rPr>
              <a:t>УРОВЕНЬ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8686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E2138"/>
                </a:solidFill>
                <a:latin typeface="Trebuchet MS"/>
              </a:rPr>
              <a:t>Настоящий агент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2A94B"/>
                </a:solidFill>
                <a:latin typeface="Trebuchet MS"/>
              </a:rPr>
              <a:t>Что делаешь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303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1.  Терминал в VS Code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2.  python agent.py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3.  Обходит все папки отчётов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4.  Отличает подростка от взрослого</a:t>
            </a:r>
          </a:p>
          <a:p>
            <a:pPr algn="l"/>
            <a:r>
              <a:rPr sz="1400" b="0">
                <a:solidFill>
                  <a:srgbClr val="1E2138"/>
                </a:solidFill>
                <a:latin typeface="Calibri"/>
              </a:rPr>
              <a:t>5.  Готовые пропускает, ошибку повторит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114800"/>
          </a:xfrm>
          <a:prstGeom prst="roundRect">
            <a:avLst>
              <a:gd name="adj" fmla="val 8000"/>
            </a:avLst>
          </a:prstGeom>
          <a:solidFill>
            <a:srgbClr val="F4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91440" cy="4114800"/>
          </a:xfrm>
          <a:prstGeom prst="rect">
            <a:avLst/>
          </a:prstGeom>
          <a:solidFill>
            <a:srgbClr val="F2A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2A94B"/>
                </a:solidFill>
                <a:latin typeface="Trebuchet MS"/>
              </a:rPr>
              <a:t>Что говоришь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8463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138"/>
                </a:solidFill>
                <a:latin typeface="Calibri"/>
              </a:rPr>
              <a:t>«Этого кода я не писала. Дала Codex / Claude Code описание задачи — он написал программу. Уровень «дорасти или отдать спецу».»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6B7194"/>
                </a:solidFill>
                <a:latin typeface="Calibri"/>
              </a:rPr>
              <a:t>Агент = система сама принимает решения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C6CFF"/>
                </a:solidFill>
                <a:latin typeface="Trebuchet MS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1E2138"/>
                </a:solidFill>
                <a:latin typeface="Trebuchet MS"/>
              </a:rPr>
              <a:t>Cowork · Codex · Make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331720" cy="658368"/>
          </a:xfrm>
          <a:prstGeom prst="rect">
            <a:avLst/>
          </a:prstGeom>
          <a:solidFill>
            <a:srgbClr val="14152A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139696"/>
            <a:ext cx="20939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011680"/>
            <a:ext cx="2971800" cy="658368"/>
          </a:xfrm>
          <a:prstGeom prst="rect">
            <a:avLst/>
          </a:prstGeom>
          <a:solidFill>
            <a:srgbClr val="14152A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139696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Trebuchet MS"/>
              </a:rPr>
              <a:t>Claude Cowork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2011680"/>
            <a:ext cx="2971800" cy="658368"/>
          </a:xfrm>
          <a:prstGeom prst="rect">
            <a:avLst/>
          </a:prstGeom>
          <a:solidFill>
            <a:srgbClr val="14152A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71032" y="2139696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Trebuchet MS"/>
              </a:rPr>
              <a:t>OpenAI Codex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011680"/>
            <a:ext cx="2971800" cy="658368"/>
          </a:xfrm>
          <a:prstGeom prst="rect">
            <a:avLst/>
          </a:prstGeom>
          <a:solidFill>
            <a:srgbClr val="14152A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139696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Trebuchet MS"/>
              </a:rPr>
              <a:t>Make.com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70048"/>
            <a:ext cx="233172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98064"/>
            <a:ext cx="20939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2138"/>
                </a:solidFill>
                <a:latin typeface="Calibri"/>
              </a:rPr>
              <a:t>Что это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2670048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798064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Десктоп-ассистент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670048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71032" y="2798064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Агент CLI/IDE/облако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670048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798064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Конструктор + триггеры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28415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456432"/>
            <a:ext cx="20939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2138"/>
                </a:solidFill>
                <a:latin typeface="Calibri"/>
              </a:rPr>
              <a:t>Терминал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3328415"/>
            <a:ext cx="2971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3456432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Не нужен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3328415"/>
            <a:ext cx="2971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71032" y="3456432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Нужен / отдать спецу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3960" y="3328415"/>
            <a:ext cx="2971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42832" y="3456432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Не нужен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86783"/>
            <a:ext cx="233172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4114799"/>
            <a:ext cx="20939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2138"/>
                </a:solidFill>
                <a:latin typeface="Calibri"/>
              </a:rPr>
              <a:t>Файлы клиентов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3986783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9232" y="4114799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да (десктоп)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986783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71032" y="4114799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да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986783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42832" y="4114799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Через Drive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645151"/>
            <a:ext cx="23317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4773167"/>
            <a:ext cx="20939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2138"/>
                </a:solidFill>
                <a:latin typeface="Calibri"/>
              </a:rPr>
              <a:t>Запуск по событию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4645151"/>
            <a:ext cx="2971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9232" y="4773167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Нет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4645151"/>
            <a:ext cx="2971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71032" y="4773167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Нет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23960" y="4645151"/>
            <a:ext cx="29718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42832" y="4773167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да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303519"/>
            <a:ext cx="233172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5431535"/>
            <a:ext cx="209397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E2138"/>
                </a:solidFill>
                <a:latin typeface="Calibri"/>
              </a:rPr>
              <a:t>Кому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5303519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99232" y="5431535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Профориентатор сам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5303519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71032" y="5431535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Продвинутый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23960" y="5303519"/>
            <a:ext cx="2971800" cy="658368"/>
          </a:xfrm>
          <a:prstGeom prst="rect">
            <a:avLst/>
          </a:prstGeom>
          <a:solidFill>
            <a:srgbClr val="F4F4FB"/>
          </a:solidFill>
          <a:ln w="9525">
            <a:solidFill>
              <a:srgbClr val="E0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42832" y="5431535"/>
            <a:ext cx="2734056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Сам или подрядчик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B7194"/>
                </a:solidFill>
                <a:latin typeface="Calibri"/>
              </a:rPr>
              <a:t>Cowork/Codex — по описанию, с файлами. Make — когда автоматизация запускается сама, по событию.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Trebuchet MS"/>
              </a:rPr>
              <a:t>Итог и домашнее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2B099"/>
                </a:solidFill>
                <a:latin typeface="Calibri"/>
              </a:rPr>
              <a:t>Уровень 1 — Cowork сегодня. </a:t>
            </a:r>
            <a:r>
              <a:rPr sz="1600" b="0">
                <a:solidFill>
                  <a:srgbClr val="CFD2EC"/>
                </a:solidFill>
                <a:latin typeface="Calibri"/>
              </a:rPr>
              <a:t>Уровень 2 — своя кнопка по фразе.</a:t>
            </a:r>
          </a:p>
          <a:p>
            <a:pPr algn="l"/>
            <a:r>
              <a:rPr sz="1600" b="1">
                <a:solidFill>
                  <a:srgbClr val="22B099"/>
                </a:solidFill>
                <a:latin typeface="Calibri"/>
              </a:rPr>
              <a:t>Уровень 3 — агент (Codex / Claude Code). </a:t>
            </a:r>
            <a:r>
              <a:rPr sz="1600" b="0">
                <a:solidFill>
                  <a:srgbClr val="CFD2EC"/>
                </a:solidFill>
                <a:latin typeface="Calibri"/>
              </a:rPr>
              <a:t>Make — для триггеров.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10515600" cy="1828800"/>
          </a:xfrm>
          <a:prstGeom prst="roundRect">
            <a:avLst>
              <a:gd name="adj" fmla="val 8000"/>
            </a:avLst>
          </a:prstGeom>
          <a:solidFill>
            <a:srgbClr val="1E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6CFF"/>
                </a:solidFill>
                <a:latin typeface="Trebuchet MS"/>
              </a:rPr>
              <a:t>Домашнее задание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Возьмите один обезличенный отчёт и прогоните через Cowork с промптом из урока.</a:t>
            </a:r>
          </a:p>
          <a:p>
            <a:pPr algn="l"/>
            <a:r>
              <a:rPr sz="1450" b="0">
                <a:solidFill>
                  <a:srgbClr val="FFFFFF"/>
                </a:solidFill>
                <a:latin typeface="Calibri"/>
              </a:rPr>
              <a:t>Кто дальше — воркбенч + свой ключ → обработайте клиента. Результат в чат.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